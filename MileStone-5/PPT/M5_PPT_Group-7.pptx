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Helvetica Neue"/>
      <p:regular r:id="rId20"/>
      <p:bold r:id="rId21"/>
      <p:italic r:id="rId22"/>
      <p:boldItalic r:id="rId23"/>
    </p:embeddedFont>
    <p:embeddedFont>
      <p:font typeface="Helvetica Neue Ligh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13ED1C-B8D5-4A20-946C-65B32FFA5CBA}">
  <a:tblStyle styleId="{0213ED1C-B8D5-4A20-946C-65B32FFA5C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regular.fntdata"/><Relationship Id="rId22" Type="http://schemas.openxmlformats.org/officeDocument/2006/relationships/font" Target="fonts/HelveticaNeue-italic.fntdata"/><Relationship Id="rId21" Type="http://schemas.openxmlformats.org/officeDocument/2006/relationships/font" Target="fonts/HelveticaNeue-bold.fntdata"/><Relationship Id="rId24" Type="http://schemas.openxmlformats.org/officeDocument/2006/relationships/font" Target="fonts/HelveticaNeueLight-regular.fntdata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Light-italic.fntdata"/><Relationship Id="rId25" Type="http://schemas.openxmlformats.org/officeDocument/2006/relationships/font" Target="fonts/HelveticaNeueLight-bold.fntdata"/><Relationship Id="rId27" Type="http://schemas.openxmlformats.org/officeDocument/2006/relationships/font" Target="fonts/HelveticaNeue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dffb9e9c1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ddffb9e9c1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dffb9e9c1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ddffb9e9c1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37aceb8b4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37aceb8b4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d37aceb8b4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e2a68cd05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ce2a68cd05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e2a68cd05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ce2a68cd05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e2a68cd05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ce2a68cd05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e2a68cd05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ce2a68cd05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e2a68cd05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ce2a68cd05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e2a68cd05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ce2a68cd05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e2a68cd05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ce2a68cd05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369229121_1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d369229121_1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e2a68cd05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ce2a68cd05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0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1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2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1114725" y="3324525"/>
            <a:ext cx="11163300" cy="1551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S2_g7_net :</a:t>
            </a:r>
            <a:r>
              <a:rPr b="0" lang="en-US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Probabilistic Modeling of Network Congestion and Queue Delay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566575" y="4736250"/>
            <a:ext cx="9040200" cy="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Instructor  - Dr. Dhaval Patel</a:t>
            </a:r>
            <a:endParaRPr b="1" sz="2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861975" y="3026625"/>
            <a:ext cx="98475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CSE400 : Fundamentals of Probability in Computing</a:t>
            </a:r>
            <a:endParaRPr b="1" sz="2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8061850" y="4376700"/>
            <a:ext cx="40005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Tanmay Kanani - AU2440234</a:t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Jyotier Vithalani - AU2440170</a:t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Yashika Ashar - </a:t>
            </a:r>
            <a:r>
              <a:rPr lang="en-US" sz="2000">
                <a:solidFill>
                  <a:srgbClr val="FFFFFF"/>
                </a:solidFill>
              </a:rPr>
              <a:t>AU2440182</a:t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Rudra Mehta - AU2440268</a:t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Krisha Desai - AU2440103</a:t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8425" y="500900"/>
            <a:ext cx="1089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Background and Motivation</a:t>
            </a:r>
            <a:endParaRPr b="1" sz="2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68425" y="1264725"/>
            <a:ext cx="10896300" cy="4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Perspective: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congestion is a direct application of probability theory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 like Poisson arrivals, Markov chains, and stochastic processes apply here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Bridges theoretical probability with a practical computing problem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Perspective: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packet traversing the internet passes through multiple queues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Congestion causes delays in video streaming, cloud services, and communication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ISPs and data centers constantly deal with unpredictable traffic loads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This Problem Matters: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arrivals are random - deterministic routing cannot adapt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probabilistic approach models uncertainty and enables smarter routing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minimize end-to-end delay under real-world unpredictability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68425" y="500900"/>
            <a:ext cx="1089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 Paper Overview</a:t>
            </a:r>
            <a:endParaRPr b="1" sz="2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68425" y="1264725"/>
            <a:ext cx="10896300" cy="4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Paper: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Bisnik &amp; Abouzeid (2006) — </a:t>
            </a:r>
            <a:r>
              <a:rPr i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Queuing Network Models for Delay Analysis of Multihop Wireless Ad Hoc Networks</a:t>
            </a:r>
            <a:endParaRPr i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Idea: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multihop wireless network as an open G/G/1 queuing network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Diffusion Approximation to derive closed-form expressions for average end-to-end delay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Accounts for random packet arrivals, back-off mechanisms, and collision avoidance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Contributions: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Derives mean service time at each node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Obtains maximum achievable per-node throughput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Analytical results closely match simulation results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Connection to Our Project: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adopt the same core model: queues with arrival rate λ and service rate μ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 it by comparing deterministic vs randomized routing under queue delay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668425" y="500900"/>
            <a:ext cx="1089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Formulation</a:t>
            </a:r>
            <a:endParaRPr b="1" sz="2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668425" y="1116500"/>
            <a:ext cx="10896300" cy="48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</a:t>
            </a:r>
            <a:r>
              <a:rPr b="1" lang="en-US">
                <a:solidFill>
                  <a:schemeClr val="dk1"/>
                </a:solidFill>
              </a:rPr>
              <a:t>ystem Representation: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[ Source 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↓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[ Node 1 ] → [ Node 2 ] → [ Node 3 ] → [ Destination 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  📦               📦                    📦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 Q1                Q2                  Q3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Queueing Behavior: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Every node maintains a queue.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If Multiple arrivals come up, queue builds.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Packets served at rate </a:t>
            </a:r>
            <a:r>
              <a:rPr b="1" lang="en-US">
                <a:solidFill>
                  <a:schemeClr val="dk1"/>
                </a:solidFill>
              </a:rPr>
              <a:t>μ.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Delay Modeling: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Node delay ≈ 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End-to-end delay: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13" name="Google Shape;113;p16" title="{&quot;red&quot;:0,&quot;green&quot;:0,&quot;blue&quot;:0,&quot;origURL&quot;:&quot;https://www.codecogs.com/eqnedit.php?latex=%20D%20%3D%20%5Cfrac%7BQ%7D%7B%5Cmu%7D%20#0&quot;,&quot;size&quot;:12,&quot;width&quot;:857.9763779527559,&quot;height&quot;:384.70866141732284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500" y="5226200"/>
            <a:ext cx="509778" cy="389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title="{&quot;red&quot;:0,&quot;green&quot;:0,&quot;blue&quot;:0,&quot;origURL&quot;:&quot;https://www.codecogs.com/eqnedit.php?latex=%20T%20%3D%20%5Csum%20D_i%20#0&quot;,&quot;size&quot;:12,&quot;width&quot;:857.9763779527559,&quot;height&quot;:384.70866141732284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3825" y="5881925"/>
            <a:ext cx="792099" cy="238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616225" y="550097"/>
            <a:ext cx="10515600" cy="591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Uncertainty, challenge and objective</a:t>
            </a:r>
            <a:endParaRPr sz="2800"/>
          </a:p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616200" y="1372429"/>
            <a:ext cx="10959600" cy="468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Sources of Uncertainty: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Packet arrivals are random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Queue lengths change dynamically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Congestion varies across nodes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Challenge: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path may experience different delays over time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Deterministic routing does not adapt to congestion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Leads to traffic concentration and bottlenecks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23" name="Google Shape;123;p17"/>
          <p:cNvSpPr txBox="1"/>
          <p:nvPr/>
        </p:nvSpPr>
        <p:spPr>
          <a:xfrm>
            <a:off x="6194325" y="1680700"/>
            <a:ext cx="400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6408150" y="1541200"/>
            <a:ext cx="400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6096000" y="1541200"/>
            <a:ext cx="4503300" cy="4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Example Insight: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 congested path may still be selected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Alternative paths remain underutilized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Objective: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 To minimize </a:t>
            </a:r>
            <a:r>
              <a:rPr b="1" lang="en-US" sz="1600">
                <a:solidFill>
                  <a:schemeClr val="dk1"/>
                </a:solidFill>
              </a:rPr>
              <a:t>end-to-end delay.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Analyze routing under uncertainty.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Try to improve routing decisions.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668350" y="179425"/>
            <a:ext cx="1089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Mathematical Model</a:t>
            </a:r>
            <a:endParaRPr b="1" sz="2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668350" y="859900"/>
            <a:ext cx="10896300" cy="53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modeled as a graph G(V,E).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Packets travel from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→ destination through nodes.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Variables: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Arrival Rate: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rate: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μ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length: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Q(t)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delay: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Intesity: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Stability condition: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λ&lt;μ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stable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λ≥μ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congestion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0850" y="3155150"/>
            <a:ext cx="4069212" cy="85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0850" y="4441250"/>
            <a:ext cx="706639" cy="57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668425" y="500900"/>
            <a:ext cx="1089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Deterministic Approach</a:t>
            </a:r>
            <a:endParaRPr b="1" sz="2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570875" y="1205175"/>
            <a:ext cx="10896300" cy="48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ixed routing using: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Dijkstra’s Algorithm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A* Search Algorithm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Packets follow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shortest path.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Assumptions: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queue at each node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number of packets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randomness in decision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 calculation: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concentrated on one path.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Leads to congestion hotspots.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9900" y="4107975"/>
            <a:ext cx="2876550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647850" y="210825"/>
            <a:ext cx="1089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7D191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Randomized Approach</a:t>
            </a:r>
            <a:endParaRPr b="1" sz="2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668425" y="1251900"/>
            <a:ext cx="10896300" cy="4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128250" y="984300"/>
            <a:ext cx="7326000" cy="48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1.</a:t>
            </a:r>
            <a:r>
              <a:rPr b="1" lang="en-US" sz="1800">
                <a:solidFill>
                  <a:schemeClr val="dk1"/>
                </a:solidFill>
              </a:rPr>
              <a:t>Stochastic next-hop selection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2.</a:t>
            </a:r>
            <a:r>
              <a:rPr b="1" lang="en-US" sz="1800">
                <a:solidFill>
                  <a:schemeClr val="dk1"/>
                </a:solidFill>
              </a:rPr>
              <a:t>Softmax-based decision rule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3.</a:t>
            </a:r>
            <a:r>
              <a:rPr b="1" lang="en-US" sz="1800">
                <a:solidFill>
                  <a:schemeClr val="dk1"/>
                </a:solidFill>
              </a:rPr>
              <a:t>Cost-aware probabilistic routing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4.</a:t>
            </a:r>
            <a:r>
              <a:rPr b="1" lang="en-US" sz="1800">
                <a:solidFill>
                  <a:schemeClr val="dk1"/>
                </a:solidFill>
              </a:rPr>
              <a:t>Temperature-based control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5.</a:t>
            </a:r>
            <a:r>
              <a:rPr b="1" lang="en-US" sz="1800">
                <a:solidFill>
                  <a:schemeClr val="dk1"/>
                </a:solidFill>
              </a:rPr>
              <a:t>Near-optimal path discovery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6.</a:t>
            </a:r>
            <a:r>
              <a:rPr b="1" lang="en-US" sz="1800">
                <a:solidFill>
                  <a:schemeClr val="dk1"/>
                </a:solidFill>
              </a:rPr>
              <a:t>Route diversity under congestion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This approach does not always choose one fixed path.</a:t>
            </a:r>
            <a:br>
              <a:rPr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Instead, it selects paths probabilistically, where lower-delay paths have a higher chance of being chosen.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51" name="Google Shape;15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0250" y="0"/>
            <a:ext cx="9557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245275" y="178175"/>
            <a:ext cx="5850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Coding &amp; Simulation</a:t>
            </a:r>
            <a:endParaRPr b="1" sz="2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503450" y="793775"/>
            <a:ext cx="6147900" cy="54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1.</a:t>
            </a:r>
            <a:r>
              <a:rPr b="1" lang="en-US" sz="2000">
                <a:solidFill>
                  <a:schemeClr val="dk1"/>
                </a:solidFill>
              </a:rPr>
              <a:t>Implemented in Python</a:t>
            </a:r>
            <a:endParaRPr b="1" sz="20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2.</a:t>
            </a:r>
            <a:r>
              <a:rPr b="1" lang="en-US" sz="2000">
                <a:solidFill>
                  <a:schemeClr val="dk1"/>
                </a:solidFill>
              </a:rPr>
              <a:t>Network modeled as a graph</a:t>
            </a:r>
            <a:endParaRPr b="1" sz="20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3.</a:t>
            </a:r>
            <a:r>
              <a:rPr b="1" lang="en-US" sz="2000">
                <a:solidFill>
                  <a:schemeClr val="dk1"/>
                </a:solidFill>
              </a:rPr>
              <a:t>Queue delay used as routing cost</a:t>
            </a:r>
            <a:endParaRPr b="1" sz="20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4.</a:t>
            </a:r>
            <a:r>
              <a:rPr b="1" lang="en-US" sz="2000">
                <a:solidFill>
                  <a:schemeClr val="dk1"/>
                </a:solidFill>
              </a:rPr>
              <a:t>Multiple trials performed</a:t>
            </a:r>
            <a:endParaRPr b="1" sz="20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5.</a:t>
            </a:r>
            <a:r>
              <a:rPr b="1" lang="en-US" sz="2000">
                <a:solidFill>
                  <a:schemeClr val="dk1"/>
                </a:solidFill>
              </a:rPr>
              <a:t>Compared with Dijkstra and A*</a:t>
            </a:r>
            <a:endParaRPr b="1" sz="20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The complete model was implemented and tested through simulation.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The randomized approach was evaluated by running multiple trials and comparing its delay performance with deterministic algorithms.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6915150" y="972738"/>
            <a:ext cx="4023000" cy="6393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Input Network Data</a:t>
            </a:r>
            <a:endParaRPr b="1"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6915150" y="1857913"/>
            <a:ext cx="4023000" cy="6393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Build Graph Model</a:t>
            </a:r>
            <a:endParaRPr b="1"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6877350" y="2773288"/>
            <a:ext cx="4098600" cy="6393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Apply Routing Algorithm</a:t>
            </a:r>
            <a:endParaRPr b="1"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6839550" y="3665863"/>
            <a:ext cx="4098600" cy="6393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Run Multiple Trials</a:t>
            </a:r>
            <a:endParaRPr b="1"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6839550" y="4566138"/>
            <a:ext cx="4098600" cy="6393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Compare with Dijkstra &amp; A*</a:t>
            </a:r>
            <a:endParaRPr b="1"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6839550" y="5466413"/>
            <a:ext cx="4098600" cy="6393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Helvetica Neue"/>
                <a:ea typeface="Helvetica Neue"/>
                <a:cs typeface="Helvetica Neue"/>
                <a:sym typeface="Helvetica Neue"/>
              </a:rPr>
              <a:t>Analyze Delay Results</a:t>
            </a:r>
            <a:endParaRPr b="1"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65" name="Google Shape;165;p21"/>
          <p:cNvCxnSpPr>
            <a:endCxn id="160" idx="0"/>
          </p:cNvCxnSpPr>
          <p:nvPr/>
        </p:nvCxnSpPr>
        <p:spPr>
          <a:xfrm>
            <a:off x="8926650" y="1611913"/>
            <a:ext cx="0" cy="24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21"/>
          <p:cNvCxnSpPr>
            <a:endCxn id="161" idx="0"/>
          </p:cNvCxnSpPr>
          <p:nvPr/>
        </p:nvCxnSpPr>
        <p:spPr>
          <a:xfrm>
            <a:off x="8926650" y="2497288"/>
            <a:ext cx="0" cy="27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1"/>
          <p:cNvCxnSpPr/>
          <p:nvPr/>
        </p:nvCxnSpPr>
        <p:spPr>
          <a:xfrm>
            <a:off x="8926650" y="3393675"/>
            <a:ext cx="0" cy="27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1"/>
          <p:cNvCxnSpPr/>
          <p:nvPr/>
        </p:nvCxnSpPr>
        <p:spPr>
          <a:xfrm>
            <a:off x="8926650" y="4301500"/>
            <a:ext cx="0" cy="27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21"/>
          <p:cNvCxnSpPr/>
          <p:nvPr/>
        </p:nvCxnSpPr>
        <p:spPr>
          <a:xfrm>
            <a:off x="8888850" y="5205438"/>
            <a:ext cx="0" cy="27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668425" y="500900"/>
            <a:ext cx="1089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</a:t>
            </a:r>
            <a:endParaRPr b="1" sz="2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668425" y="1264725"/>
            <a:ext cx="10896300" cy="4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temperature - controls randomness in path selection)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Deterministic methods achieve </a:t>
            </a: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 delay = 36.0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Softmax (τ = 0.15) achieves </a:t>
            </a: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near-optimal performance (36.017)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Very small difference shows </a:t>
            </a: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effectiveness of randomized approach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7" name="Google Shape;177;p22"/>
          <p:cNvGraphicFramePr/>
          <p:nvPr/>
        </p:nvGraphicFramePr>
        <p:xfrm>
          <a:off x="668413" y="126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{0213ED1C-B8D5-4A20-946C-65B32FFA5CBA}</a:tableStyleId>
              </a:tblPr>
              <a:tblGrid>
                <a:gridCol w="1597650"/>
                <a:gridCol w="1512475"/>
                <a:gridCol w="1555075"/>
                <a:gridCol w="1555075"/>
              </a:tblGrid>
              <a:tr h="38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Best Delay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 Delay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Nodes Expanded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Dijkstra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36.0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36.0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84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A*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36.0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36.0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Softmax </a:t>
                      </a: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τ</a:t>
                      </a: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=0.15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5F3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36.0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5F3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36.017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5F3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5F36A"/>
                    </a:solidFill>
                  </a:tcPr>
                </a:tc>
              </a:tr>
              <a:tr h="38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Softmax </a:t>
                      </a: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τ</a:t>
                      </a: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=0.30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36.0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36.088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Softmax </a:t>
                      </a: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τ</a:t>
                      </a: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=0.50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36.0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36.268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Softmax </a:t>
                      </a: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τ</a:t>
                      </a: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=0.80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36.0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38.337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18.7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21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Softmax </a:t>
                      </a: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τ</a:t>
                      </a: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=1.20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36.0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44.321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20.6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78" name="Google Shape;17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7250" y="1395188"/>
            <a:ext cx="4748401" cy="303067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/>
          <p:nvPr/>
        </p:nvSpPr>
        <p:spPr>
          <a:xfrm>
            <a:off x="9664500" y="1603650"/>
            <a:ext cx="855600" cy="2822100"/>
          </a:xfrm>
          <a:prstGeom prst="rect">
            <a:avLst/>
          </a:prstGeom>
          <a:solidFill>
            <a:srgbClr val="F5F36A">
              <a:alpha val="38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23"/>
          <p:cNvSpPr txBox="1"/>
          <p:nvPr/>
        </p:nvSpPr>
        <p:spPr>
          <a:xfrm>
            <a:off x="647850" y="3961628"/>
            <a:ext cx="10896300" cy="20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Randomized approach reduces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effort significantly 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Most delays are concentrated near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 value (36.0)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High probability (~96%) of obtaining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 path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Increasing randomness increases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 variation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6" name="Google Shape;18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850" y="836600"/>
            <a:ext cx="5591775" cy="286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2025" y="838550"/>
            <a:ext cx="5053225" cy="286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24"/>
          <p:cNvSpPr txBox="1"/>
          <p:nvPr/>
        </p:nvSpPr>
        <p:spPr>
          <a:xfrm>
            <a:off x="668425" y="500900"/>
            <a:ext cx="1089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Inference – Domain Perspective</a:t>
            </a:r>
            <a:endParaRPr b="1" sz="2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668425" y="1251900"/>
            <a:ext cx="5427600" cy="4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6095325" y="1251875"/>
            <a:ext cx="5469300" cy="4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767025" y="1357425"/>
            <a:ext cx="5004000" cy="190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Nature of Real Systems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lengths are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uncertain and continuously changing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Arrival and service processes are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fixed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routing decisions may become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inefficient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767025" y="3602650"/>
            <a:ext cx="5004000" cy="190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Need for Adaptive Routing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Systems must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 decisions dynamically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Considering multiple paths helps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congestion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overall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performance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6464850" y="1357425"/>
            <a:ext cx="5004000" cy="190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Exploration vs Efficiency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Always choosing one path can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overload it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Exploring different paths helps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 load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Leads to better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utilization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6464850" y="3602650"/>
            <a:ext cx="5004000" cy="190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Reliability in Practical Systems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consistently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reaches the destination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Maintains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performance under uncertainty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Suitable for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dynamic environments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25"/>
          <p:cNvSpPr txBox="1"/>
          <p:nvPr/>
        </p:nvSpPr>
        <p:spPr>
          <a:xfrm>
            <a:off x="668425" y="500900"/>
            <a:ext cx="1089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Inference – Computer Science Perspective</a:t>
            </a:r>
            <a:endParaRPr b="1" sz="2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6" name="Google Shape;206;p25" title="CodeCogsEq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035925" y="5562588"/>
            <a:ext cx="12096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/>
          <p:nvPr/>
        </p:nvSpPr>
        <p:spPr>
          <a:xfrm>
            <a:off x="544400" y="1116500"/>
            <a:ext cx="5004000" cy="190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Deterministic Approach (Dijkstra)</a:t>
            </a:r>
            <a:endParaRPr b="1" sz="18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1800">
                <a:solidFill>
                  <a:schemeClr val="dk1"/>
                </a:solidFill>
              </a:rPr>
              <a:t>Always selects minimum cost path</a:t>
            </a:r>
            <a:endParaRPr sz="18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1800">
                <a:solidFill>
                  <a:schemeClr val="dk1"/>
                </a:solidFill>
              </a:rPr>
              <a:t>Single optimal solution</a:t>
            </a:r>
            <a:endParaRPr sz="18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1800">
                <a:solidFill>
                  <a:schemeClr val="dk1"/>
                </a:solidFill>
              </a:rPr>
              <a:t>Efficient for static environments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482375" y="3139075"/>
            <a:ext cx="5004000" cy="280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</a:rPr>
              <a:t>2. Randomized Approach (Softmax)</a:t>
            </a:r>
            <a:endParaRPr b="1" sz="1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</a:rPr>
              <a:t>Uses probability distribution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</a:rPr>
              <a:t>Explores multiple paths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</a:rPr>
              <a:t>Controlled by temperature (τ)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</a:rPr>
              <a:t>Balances exploration &amp; exploitation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50">
              <a:solidFill>
                <a:schemeClr val="dk1"/>
              </a:solidFill>
            </a:endParaRPr>
          </a:p>
        </p:txBody>
      </p:sp>
      <p:sp>
        <p:nvSpPr>
          <p:cNvPr id="209" name="Google Shape;209;p25"/>
          <p:cNvSpPr/>
          <p:nvPr/>
        </p:nvSpPr>
        <p:spPr>
          <a:xfrm>
            <a:off x="6260350" y="1234075"/>
            <a:ext cx="5004000" cy="190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50">
                <a:solidFill>
                  <a:schemeClr val="dk1"/>
                </a:solidFill>
              </a:rPr>
              <a:t>3. Efficiency vs Exploration</a:t>
            </a:r>
            <a:endParaRPr b="1"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</a:rPr>
              <a:t>Deterministic → fast but rigid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</a:rPr>
              <a:t>Randomized → flexible, multiple trials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</a:rPr>
              <a:t>Trade-off: optimality vs adaptability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</a:rPr>
              <a:t>Useful in dynamic systems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dk1"/>
              </a:solidFill>
            </a:endParaRPr>
          </a:p>
        </p:txBody>
      </p:sp>
      <p:sp>
        <p:nvSpPr>
          <p:cNvPr id="210" name="Google Shape;210;p25"/>
          <p:cNvSpPr/>
          <p:nvPr/>
        </p:nvSpPr>
        <p:spPr>
          <a:xfrm>
            <a:off x="6349775" y="3429000"/>
            <a:ext cx="5004000" cy="190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50">
                <a:solidFill>
                  <a:schemeClr val="dk1"/>
                </a:solidFill>
              </a:rPr>
              <a:t>4. System Behavior &amp; Output</a:t>
            </a:r>
            <a:endParaRPr b="1"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</a:rPr>
              <a:t>Deterministic → single path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</a:rPr>
              <a:t>Randomized → multiple paths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</a:rPr>
              <a:t>Avoids congestion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</a:rPr>
              <a:t>Better for real-world variability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50">
              <a:solidFill>
                <a:schemeClr val="dk1"/>
              </a:solidFill>
            </a:endParaRPr>
          </a:p>
        </p:txBody>
      </p:sp>
      <p:pic>
        <p:nvPicPr>
          <p:cNvPr id="211" name="Google Shape;211;p25" title="CodeCogsEq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625" y="5225025"/>
            <a:ext cx="13049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7050" y="2519325"/>
            <a:ext cx="12096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26"/>
          <p:cNvSpPr txBox="1"/>
          <p:nvPr/>
        </p:nvSpPr>
        <p:spPr>
          <a:xfrm>
            <a:off x="668425" y="500900"/>
            <a:ext cx="1089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References</a:t>
            </a:r>
            <a:endParaRPr b="1" sz="2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668425" y="1251900"/>
            <a:ext cx="10896300" cy="4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Bisnik, Nabhendra &amp; Abouzeid, Alhussein. (2006). Queuing Network Models for Delay Analysis of 1 Multihop Wireless Ad Hoc Networks. 773-778.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