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69" r:id="rId2"/>
    <p:sldId id="256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</p:sldIdLst>
  <p:sldSz cx="12192000" cy="6858000"/>
  <p:notesSz cx="6858000" cy="9144000"/>
  <p:embeddedFontLst>
    <p:embeddedFont>
      <p:font typeface="Helvetica Neue" panose="020B0604020202020204" charset="0"/>
      <p:regular r:id="rId18"/>
      <p:bold r:id="rId19"/>
      <p:italic r:id="rId20"/>
      <p:boldItalic r:id="rId21"/>
    </p:embeddedFont>
    <p:embeddedFont>
      <p:font typeface="Helvetica Neue Light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4DE6F41F-2CBF-F73E-9DDC-AD072CC0B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15FB1D70-7461-73C7-75BB-2BA8FAAD4B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7D3904BC-A549-A8CF-D4D0-522FE56975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67621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E8CECC63-7A78-15CE-000E-A3D4EAE82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E4E969AC-F101-C765-148B-3A0054BFF7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890E80F1-8BE4-1273-5810-1916DE5EC9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969341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35116417-D75F-CB64-5BE0-0E794AE7E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E26724C2-441A-466D-B942-7D460A2972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59EA384F-097D-1583-01C2-3CD7E30A8C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61184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0EF5DC77-E83D-27B5-1007-0E44D7B55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458CB0AF-B33D-5A73-AA8F-C5B3722185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731B1BE1-C7B1-1E1E-F4BB-1AB6FCE036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656358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39E1AC39-5E94-C79E-B940-67768AC39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5C81ADAB-37DB-B0DA-9733-E293877898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71BA477C-C85A-E4C5-29A2-20FF5C0605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306341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D8764FE9-7C5B-D157-94EA-6DB2B71D8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4CF20FD6-C334-808F-6B53-F3A9E54FF8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7F06E950-CF84-2640-8666-D24F9BB2F3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801019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BF5ACB67-C534-3983-1133-585A96862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1095BF01-94B7-3D92-4943-A855A0740F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8A50EAA9-5646-5675-22C8-39C8A39991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342067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EC57CCF9-2C81-9935-F243-C907A333D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60634DA4-21F0-2D0C-5DF2-B661B9D68D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4D92D0D1-C322-1A9D-5898-499E0F4A7A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068053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0A56E7A4-77B6-0B78-F6F4-E88FBFFEA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353236D8-DD1F-A9F8-9E45-97C81A367C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4458C1BC-13E3-AB18-EF9A-DF563665F7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977260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C766BC7F-4F8C-622E-5EA4-8C2E1B2B7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1AE67247-A17C-7610-106C-89FF260BE6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1833D3B8-0023-1A70-1E0F-BF9A361BEF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30923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BE59DAD0-7DD3-4529-483B-D3B8C744B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8F500654-138A-0892-5EB4-9754B0E857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00EFB979-6FBF-4B27-D8AB-5846658BD8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855679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C251366F-78CD-FA0C-80C9-38543E0A2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B0CDDD9A-D7E2-7FEF-EFEC-181103A282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6B516078-5498-756B-F22F-E6A8ABFBF5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71841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A51BF57D-77D8-DB3A-897C-32CB18434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8367E787-9A50-EF77-2B30-DDFDED6FC0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3B87C34F-57A3-40F2-5083-B9230F6BF7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3520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solidFill>
          <a:srgbClr val="801B19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>
            <a:spLocks noGrp="1"/>
          </p:cNvSpPr>
          <p:nvPr>
            <p:ph type="title"/>
          </p:nvPr>
        </p:nvSpPr>
        <p:spPr>
          <a:xfrm>
            <a:off x="844150" y="3874808"/>
            <a:ext cx="10515600" cy="83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Helvetica Neue"/>
              <a:buNone/>
              <a:defRPr sz="3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42932" y="1479396"/>
            <a:ext cx="4106136" cy="1347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  <a:defRPr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 b="0" i="0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Helvetica Neue Light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l="29654" t="38312" r="29480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38" name="Google Shape;38;p5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2">
            <a:alphaModFix/>
          </a:blip>
          <a:srcRect l="29654" t="38312" r="29480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47" name="Google Shape;47;p6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 l="29654" t="38312" r="29480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52" name="Google Shape;52;p7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3" name="Google Shape;53;p7"/>
          <p:cNvPicPr preferRelativeResize="0"/>
          <p:nvPr/>
        </p:nvPicPr>
        <p:blipFill rotWithShape="1">
          <a:blip r:embed="rId2">
            <a:alphaModFix/>
          </a:blip>
          <a:srcRect l="29654" t="38312" r="29480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56" name="Google Shape;56;p8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7" name="Google Shape;57;p8"/>
          <p:cNvPicPr preferRelativeResize="0"/>
          <p:nvPr/>
        </p:nvPicPr>
        <p:blipFill rotWithShape="1">
          <a:blip r:embed="rId2">
            <a:alphaModFix/>
          </a:blip>
          <a:srcRect l="29654" t="38312" r="29480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63" name="Google Shape;63;p9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4" name="Google Shape;64;p9"/>
          <p:cNvPicPr preferRelativeResize="0"/>
          <p:nvPr/>
        </p:nvPicPr>
        <p:blipFill rotWithShape="1">
          <a:blip r:embed="rId2">
            <a:alphaModFix/>
          </a:blip>
          <a:srcRect l="29654" t="38312" r="29480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70" name="Google Shape;70;p10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1" name="Google Shape;71;p10"/>
          <p:cNvPicPr preferRelativeResize="0"/>
          <p:nvPr/>
        </p:nvPicPr>
        <p:blipFill rotWithShape="1">
          <a:blip r:embed="rId2">
            <a:alphaModFix/>
          </a:blip>
          <a:srcRect l="29654" t="38312" r="29480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76" name="Google Shape;76;p11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11"/>
          <p:cNvPicPr preferRelativeResize="0"/>
          <p:nvPr/>
        </p:nvPicPr>
        <p:blipFill rotWithShape="1">
          <a:blip r:embed="rId2">
            <a:alphaModFix/>
          </a:blip>
          <a:srcRect l="29654" t="38312" r="29480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82" name="Google Shape;82;p12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3" name="Google Shape;83;p12"/>
          <p:cNvPicPr preferRelativeResize="0"/>
          <p:nvPr/>
        </p:nvPicPr>
        <p:blipFill rotWithShape="1">
          <a:blip r:embed="rId2">
            <a:alphaModFix/>
          </a:blip>
          <a:srcRect l="29654" t="38312" r="29480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2" name="Google Shape;12;p1"/>
          <p:cNvGrpSpPr/>
          <p:nvPr/>
        </p:nvGrpSpPr>
        <p:grpSpPr>
          <a:xfrm>
            <a:off x="0" y="6756400"/>
            <a:ext cx="12192000" cy="105496"/>
            <a:chOff x="0" y="6756400"/>
            <a:chExt cx="12192000" cy="105496"/>
          </a:xfrm>
        </p:grpSpPr>
        <p:pic>
          <p:nvPicPr>
            <p:cNvPr id="13" name="Google Shape;13;p1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1524000" y="675640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1"/>
            <p:cNvPicPr preferRelativeResize="0"/>
            <p:nvPr/>
          </p:nvPicPr>
          <p:blipFill rotWithShape="1">
            <a:blip r:embed="rId12">
              <a:alphaModFix/>
            </a:blip>
            <a:srcRect r="71580" b="15585"/>
            <a:stretch/>
          </p:blipFill>
          <p:spPr>
            <a:xfrm>
              <a:off x="0" y="6756400"/>
              <a:ext cx="2598717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1"/>
            <p:cNvPicPr preferRelativeResize="0"/>
            <p:nvPr/>
          </p:nvPicPr>
          <p:blipFill rotWithShape="1">
            <a:blip r:embed="rId12">
              <a:alphaModFix/>
            </a:blip>
            <a:srcRect r="71580" b="15585"/>
            <a:stretch/>
          </p:blipFill>
          <p:spPr>
            <a:xfrm>
              <a:off x="9593283" y="6756400"/>
              <a:ext cx="2598717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17" name="Google Shape;17;p1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title"/>
          </p:nvPr>
        </p:nvSpPr>
        <p:spPr>
          <a:xfrm>
            <a:off x="882025" y="3135958"/>
            <a:ext cx="10515600" cy="8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 sz="4400" dirty="0"/>
              <a:t>Probabilistic Modeling of Network Congestion and Queue Delay</a:t>
            </a:r>
            <a:endParaRPr sz="4300"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882025" y="4379375"/>
            <a:ext cx="54561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2 Group -7 </a:t>
            </a:r>
            <a:endParaRPr sz="2800" dirty="0">
              <a:solidFill>
                <a:schemeClr val="lt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Milestone -3</a:t>
            </a:r>
            <a:endParaRPr sz="2800" dirty="0">
              <a:solidFill>
                <a:schemeClr val="lt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lt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8556482" y="5868450"/>
            <a:ext cx="3635517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Tanmay Kanani - AU2440234</a:t>
            </a:r>
            <a:endParaRPr sz="2000" dirty="0">
              <a:solidFill>
                <a:schemeClr val="lt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Krisha Desai – AU </a:t>
            </a:r>
            <a:endParaRPr sz="2000" dirty="0">
              <a:solidFill>
                <a:schemeClr val="lt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title"/>
          </p:nvPr>
        </p:nvSpPr>
        <p:spPr>
          <a:xfrm>
            <a:off x="630566" y="-219662"/>
            <a:ext cx="10515600" cy="1998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en-US" dirty="0"/>
              <a:t>Probabilistic Modeling of Network Congestion and Queue Delay</a:t>
            </a:r>
            <a:endParaRPr dirty="0"/>
          </a:p>
        </p:txBody>
      </p:sp>
      <p:sp>
        <p:nvSpPr>
          <p:cNvPr id="89" name="Google Shape;89;p13"/>
          <p:cNvSpPr txBox="1">
            <a:spLocks noGrp="1"/>
          </p:cNvSpPr>
          <p:nvPr>
            <p:ph type="body" idx="1"/>
          </p:nvPr>
        </p:nvSpPr>
        <p:spPr>
          <a:xfrm>
            <a:off x="630566" y="1779100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Helvetica Neue Light"/>
              <a:buNone/>
            </a:pPr>
            <a:endParaRPr sz="2400" b="1" dirty="0">
              <a:solidFill>
                <a:schemeClr val="tx1"/>
              </a:solidFill>
            </a:endParaRPr>
          </a:p>
        </p:txBody>
      </p:sp>
      <p:sp>
        <p:nvSpPr>
          <p:cNvPr id="90" name="Google Shape;90;p13"/>
          <p:cNvSpPr txBox="1">
            <a:spLocks noGrp="1"/>
          </p:cNvSpPr>
          <p:nvPr>
            <p:ph type="sldNum" idx="12"/>
          </p:nvPr>
        </p:nvSpPr>
        <p:spPr>
          <a:xfrm>
            <a:off x="10976298" y="61350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dt" idx="10"/>
          </p:nvPr>
        </p:nvSpPr>
        <p:spPr>
          <a:xfrm>
            <a:off x="8098420" y="61350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E487FC50-A694-551E-DF81-F7425D1E4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628A31C3-0625-F3B4-3037-29F3BB76E7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566" y="-219662"/>
            <a:ext cx="10515600" cy="1998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en-US" dirty="0"/>
              <a:t>Probabilistic Modeling of Network Congestion and Queue Delay</a:t>
            </a:r>
            <a:endParaRPr dirty="0"/>
          </a:p>
        </p:txBody>
      </p:sp>
      <p:sp>
        <p:nvSpPr>
          <p:cNvPr id="89" name="Google Shape;89;p13">
            <a:extLst>
              <a:ext uri="{FF2B5EF4-FFF2-40B4-BE49-F238E27FC236}">
                <a16:creationId xmlns:a16="http://schemas.microsoft.com/office/drawing/2014/main" id="{16C07556-EB62-1239-3C66-1E96BC10D4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30566" y="1779100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Helvetica Neue Light"/>
              <a:buNone/>
            </a:pPr>
            <a:endParaRPr sz="2400" b="1" dirty="0">
              <a:solidFill>
                <a:schemeClr val="tx1"/>
              </a:solidFill>
            </a:endParaRPr>
          </a:p>
        </p:txBody>
      </p:sp>
      <p:sp>
        <p:nvSpPr>
          <p:cNvPr id="90" name="Google Shape;90;p13">
            <a:extLst>
              <a:ext uri="{FF2B5EF4-FFF2-40B4-BE49-F238E27FC236}">
                <a16:creationId xmlns:a16="http://schemas.microsoft.com/office/drawing/2014/main" id="{F2324385-107E-C6A5-0164-7F42FFAC095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976298" y="61350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6EC190C7-1409-6B0D-2636-6DC03BE82096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098420" y="61350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37148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CBC4EA04-A33E-44D6-4030-0E9F6C431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C28A0981-DB2D-CB57-DF6C-8AEA475F98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566" y="-219662"/>
            <a:ext cx="10515600" cy="1998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en-US" dirty="0"/>
              <a:t>Probabilistic Modeling of Network Congestion and Queue Delay</a:t>
            </a:r>
            <a:endParaRPr dirty="0"/>
          </a:p>
        </p:txBody>
      </p:sp>
      <p:sp>
        <p:nvSpPr>
          <p:cNvPr id="89" name="Google Shape;89;p13">
            <a:extLst>
              <a:ext uri="{FF2B5EF4-FFF2-40B4-BE49-F238E27FC236}">
                <a16:creationId xmlns:a16="http://schemas.microsoft.com/office/drawing/2014/main" id="{782135DE-3F09-CB15-B8E4-EC4B81FFC6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30566" y="1779100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Helvetica Neue Light"/>
              <a:buNone/>
            </a:pPr>
            <a:endParaRPr sz="2400" b="1" dirty="0">
              <a:solidFill>
                <a:schemeClr val="tx1"/>
              </a:solidFill>
            </a:endParaRPr>
          </a:p>
        </p:txBody>
      </p:sp>
      <p:sp>
        <p:nvSpPr>
          <p:cNvPr id="90" name="Google Shape;90;p13">
            <a:extLst>
              <a:ext uri="{FF2B5EF4-FFF2-40B4-BE49-F238E27FC236}">
                <a16:creationId xmlns:a16="http://schemas.microsoft.com/office/drawing/2014/main" id="{B4D3D63C-4771-7F75-5E55-F31DEEB7ACF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976298" y="61350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E3F4D42E-D3FF-3776-D1DC-D16D357DEDF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098420" y="61350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85989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86485E50-3032-06A9-CDBD-02F70D17B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C768C1CC-A4E7-7B4F-538A-DBF8DE6F0E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566" y="-219662"/>
            <a:ext cx="10515600" cy="1998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en-US" dirty="0"/>
              <a:t>Probabilistic Modeling of Network Congestion and Queue Delay</a:t>
            </a:r>
            <a:endParaRPr dirty="0"/>
          </a:p>
        </p:txBody>
      </p:sp>
      <p:sp>
        <p:nvSpPr>
          <p:cNvPr id="89" name="Google Shape;89;p13">
            <a:extLst>
              <a:ext uri="{FF2B5EF4-FFF2-40B4-BE49-F238E27FC236}">
                <a16:creationId xmlns:a16="http://schemas.microsoft.com/office/drawing/2014/main" id="{88A160BF-963F-5152-ECB6-13DFB172F1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30566" y="1779100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Helvetica Neue Light"/>
              <a:buNone/>
            </a:pPr>
            <a:endParaRPr sz="2400" b="1" dirty="0">
              <a:solidFill>
                <a:schemeClr val="tx1"/>
              </a:solidFill>
            </a:endParaRPr>
          </a:p>
        </p:txBody>
      </p:sp>
      <p:sp>
        <p:nvSpPr>
          <p:cNvPr id="90" name="Google Shape;90;p13">
            <a:extLst>
              <a:ext uri="{FF2B5EF4-FFF2-40B4-BE49-F238E27FC236}">
                <a16:creationId xmlns:a16="http://schemas.microsoft.com/office/drawing/2014/main" id="{8EB61E24-7591-EC39-2BF9-E3E5F720D25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976298" y="61350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3255D212-DCDD-3520-6DE8-2B630EA3FEF6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098420" y="61350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15175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93D384C6-1B54-7D8D-E551-8ACE3602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D6BD744D-E3F3-92A0-32A7-809BF3B987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566" y="-219662"/>
            <a:ext cx="10515600" cy="1998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en-US" dirty="0"/>
              <a:t>Probabilistic Modeling of Network Congestion and Queue Delay</a:t>
            </a:r>
            <a:endParaRPr dirty="0"/>
          </a:p>
        </p:txBody>
      </p:sp>
      <p:sp>
        <p:nvSpPr>
          <p:cNvPr id="89" name="Google Shape;89;p13">
            <a:extLst>
              <a:ext uri="{FF2B5EF4-FFF2-40B4-BE49-F238E27FC236}">
                <a16:creationId xmlns:a16="http://schemas.microsoft.com/office/drawing/2014/main" id="{3850710D-37F3-3197-E540-63F5EC53A4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30566" y="1779100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Helvetica Neue Light"/>
              <a:buNone/>
            </a:pPr>
            <a:endParaRPr sz="2400" b="1" dirty="0">
              <a:solidFill>
                <a:schemeClr val="tx1"/>
              </a:solidFill>
            </a:endParaRPr>
          </a:p>
        </p:txBody>
      </p:sp>
      <p:sp>
        <p:nvSpPr>
          <p:cNvPr id="90" name="Google Shape;90;p13">
            <a:extLst>
              <a:ext uri="{FF2B5EF4-FFF2-40B4-BE49-F238E27FC236}">
                <a16:creationId xmlns:a16="http://schemas.microsoft.com/office/drawing/2014/main" id="{7CA7CD61-4221-90E4-68B1-D9A3593D391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976298" y="61350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86AD8E4B-ADBE-77EB-3BF3-20910A8EFD8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098420" y="61350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67406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A5E14460-BF05-8956-97CB-2C430A689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9342022B-4A11-4D0F-4EBA-2132DAB170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566" y="-219662"/>
            <a:ext cx="10515600" cy="1998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en-US" dirty="0"/>
              <a:t>Probabilistic Modeling of Network Congestion and Queue Delay</a:t>
            </a:r>
            <a:endParaRPr dirty="0"/>
          </a:p>
        </p:txBody>
      </p:sp>
      <p:sp>
        <p:nvSpPr>
          <p:cNvPr id="89" name="Google Shape;89;p13">
            <a:extLst>
              <a:ext uri="{FF2B5EF4-FFF2-40B4-BE49-F238E27FC236}">
                <a16:creationId xmlns:a16="http://schemas.microsoft.com/office/drawing/2014/main" id="{B7163235-7D88-3856-F6BA-1524BA4E23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30566" y="1779100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Helvetica Neue Light"/>
              <a:buNone/>
            </a:pPr>
            <a:endParaRPr sz="2400" b="1" dirty="0">
              <a:solidFill>
                <a:schemeClr val="tx1"/>
              </a:solidFill>
            </a:endParaRPr>
          </a:p>
        </p:txBody>
      </p:sp>
      <p:sp>
        <p:nvSpPr>
          <p:cNvPr id="90" name="Google Shape;90;p13">
            <a:extLst>
              <a:ext uri="{FF2B5EF4-FFF2-40B4-BE49-F238E27FC236}">
                <a16:creationId xmlns:a16="http://schemas.microsoft.com/office/drawing/2014/main" id="{E63F8BE9-D542-1E78-ABBE-1F8A05EC18F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976298" y="61350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8ED4CC6E-442D-D387-C08A-1970F2D30B2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098420" y="61350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99895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E62287E3-9401-B494-E224-595966E2B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D4C0B6B1-7738-E4E2-F54D-0509B1CC3B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566" y="-219662"/>
            <a:ext cx="10515600" cy="1998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en-US" dirty="0"/>
              <a:t>Probabilistic Modeling of Network Congestion and Queue Delay</a:t>
            </a:r>
            <a:endParaRPr dirty="0"/>
          </a:p>
        </p:txBody>
      </p:sp>
      <p:sp>
        <p:nvSpPr>
          <p:cNvPr id="89" name="Google Shape;89;p13">
            <a:extLst>
              <a:ext uri="{FF2B5EF4-FFF2-40B4-BE49-F238E27FC236}">
                <a16:creationId xmlns:a16="http://schemas.microsoft.com/office/drawing/2014/main" id="{6F0B27A2-23A9-4AC9-E02D-AB5D4895C4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30566" y="1779100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Helvetica Neue Light"/>
              <a:buNone/>
            </a:pPr>
            <a:endParaRPr sz="2400" b="1" dirty="0">
              <a:solidFill>
                <a:schemeClr val="tx1"/>
              </a:solidFill>
            </a:endParaRPr>
          </a:p>
        </p:txBody>
      </p:sp>
      <p:sp>
        <p:nvSpPr>
          <p:cNvPr id="90" name="Google Shape;90;p13">
            <a:extLst>
              <a:ext uri="{FF2B5EF4-FFF2-40B4-BE49-F238E27FC236}">
                <a16:creationId xmlns:a16="http://schemas.microsoft.com/office/drawing/2014/main" id="{C87C3AE8-FA7F-A926-1570-52FC6B38676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976298" y="61350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CA019A43-8259-3888-50A2-882A3F48AA70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098420" y="61350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75213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100096E5-8674-6C9D-93E5-3CA855A89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A5A2D8FB-5474-C2F5-A230-0471B54538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566" y="-219662"/>
            <a:ext cx="10515600" cy="1998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en-US" dirty="0"/>
              <a:t>Probabilistic Modeling of Network Congestion and Queue Delay</a:t>
            </a:r>
            <a:endParaRPr dirty="0"/>
          </a:p>
        </p:txBody>
      </p:sp>
      <p:sp>
        <p:nvSpPr>
          <p:cNvPr id="89" name="Google Shape;89;p13">
            <a:extLst>
              <a:ext uri="{FF2B5EF4-FFF2-40B4-BE49-F238E27FC236}">
                <a16:creationId xmlns:a16="http://schemas.microsoft.com/office/drawing/2014/main" id="{D0D2868D-0828-5881-040F-8CA36EBA8B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30566" y="1779100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Helvetica Neue Light"/>
              <a:buNone/>
            </a:pPr>
            <a:endParaRPr sz="2400" b="1" dirty="0">
              <a:solidFill>
                <a:schemeClr val="tx1"/>
              </a:solidFill>
            </a:endParaRPr>
          </a:p>
        </p:txBody>
      </p:sp>
      <p:sp>
        <p:nvSpPr>
          <p:cNvPr id="90" name="Google Shape;90;p13">
            <a:extLst>
              <a:ext uri="{FF2B5EF4-FFF2-40B4-BE49-F238E27FC236}">
                <a16:creationId xmlns:a16="http://schemas.microsoft.com/office/drawing/2014/main" id="{95323005-BCE9-96D3-1CEB-58BEB350318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976298" y="61350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C3179568-3CDB-E490-BCD2-EF10BBC8B8A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098420" y="61350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24028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BF08BD50-9D1E-CDCD-A7D2-EE0CEE608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574895E7-9073-4BDA-7884-FCACB0D4DD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566" y="-219662"/>
            <a:ext cx="10515600" cy="1998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en-US" dirty="0"/>
              <a:t>Probabilistic Modeling of Network Congestion and Queue Delay</a:t>
            </a:r>
            <a:endParaRPr dirty="0"/>
          </a:p>
        </p:txBody>
      </p:sp>
      <p:sp>
        <p:nvSpPr>
          <p:cNvPr id="89" name="Google Shape;89;p13">
            <a:extLst>
              <a:ext uri="{FF2B5EF4-FFF2-40B4-BE49-F238E27FC236}">
                <a16:creationId xmlns:a16="http://schemas.microsoft.com/office/drawing/2014/main" id="{6A58D878-5FB0-942E-DA5C-81B025D5A5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30566" y="1779100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Helvetica Neue Light"/>
              <a:buNone/>
            </a:pPr>
            <a:endParaRPr sz="2400" b="1" dirty="0">
              <a:solidFill>
                <a:schemeClr val="tx1"/>
              </a:solidFill>
            </a:endParaRPr>
          </a:p>
        </p:txBody>
      </p:sp>
      <p:sp>
        <p:nvSpPr>
          <p:cNvPr id="90" name="Google Shape;90;p13">
            <a:extLst>
              <a:ext uri="{FF2B5EF4-FFF2-40B4-BE49-F238E27FC236}">
                <a16:creationId xmlns:a16="http://schemas.microsoft.com/office/drawing/2014/main" id="{86EB11CC-8F0D-A7E1-B80C-53668B9B74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976298" y="61350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B208E50D-AD68-C9E2-C058-4ACAFF2B85C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098420" y="61350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49178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D396AD4C-94DF-1ADE-F4AC-52C27FF90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E9476A18-AC49-4377-477D-49B7EFE93B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566" y="-219662"/>
            <a:ext cx="10515600" cy="1998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en-US" dirty="0"/>
              <a:t>Probabilistic Modeling of Network Congestion and Queue Delay</a:t>
            </a:r>
            <a:endParaRPr dirty="0"/>
          </a:p>
        </p:txBody>
      </p:sp>
      <p:sp>
        <p:nvSpPr>
          <p:cNvPr id="89" name="Google Shape;89;p13">
            <a:extLst>
              <a:ext uri="{FF2B5EF4-FFF2-40B4-BE49-F238E27FC236}">
                <a16:creationId xmlns:a16="http://schemas.microsoft.com/office/drawing/2014/main" id="{930D1EA7-B0DA-43E1-4C94-58A2902BA5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30566" y="1779100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Helvetica Neue Light"/>
              <a:buNone/>
            </a:pPr>
            <a:endParaRPr sz="2400" b="1" dirty="0">
              <a:solidFill>
                <a:schemeClr val="tx1"/>
              </a:solidFill>
            </a:endParaRPr>
          </a:p>
        </p:txBody>
      </p:sp>
      <p:sp>
        <p:nvSpPr>
          <p:cNvPr id="90" name="Google Shape;90;p13">
            <a:extLst>
              <a:ext uri="{FF2B5EF4-FFF2-40B4-BE49-F238E27FC236}">
                <a16:creationId xmlns:a16="http://schemas.microsoft.com/office/drawing/2014/main" id="{6A9ABDE9-A26A-F72A-7437-F27494C3B7F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976298" y="61350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0D420B5C-A8F9-F145-5CE2-1C0F33CA7A3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098420" y="61350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16681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83E8842E-ACFB-3503-57C1-EAA1A6EA5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52783666-BB3F-0D16-C89F-E781F40974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566" y="-219662"/>
            <a:ext cx="10515600" cy="1998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en-US" dirty="0"/>
              <a:t>Probabilistic Modeling of Network Congestion and Queue Delay</a:t>
            </a:r>
            <a:endParaRPr dirty="0"/>
          </a:p>
        </p:txBody>
      </p:sp>
      <p:sp>
        <p:nvSpPr>
          <p:cNvPr id="89" name="Google Shape;89;p13">
            <a:extLst>
              <a:ext uri="{FF2B5EF4-FFF2-40B4-BE49-F238E27FC236}">
                <a16:creationId xmlns:a16="http://schemas.microsoft.com/office/drawing/2014/main" id="{1C532A43-C7DE-B421-35BD-563EF659A9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30566" y="1779100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Helvetica Neue Light"/>
              <a:buNone/>
            </a:pPr>
            <a:endParaRPr sz="2400" b="1" dirty="0">
              <a:solidFill>
                <a:schemeClr val="tx1"/>
              </a:solidFill>
            </a:endParaRPr>
          </a:p>
        </p:txBody>
      </p:sp>
      <p:sp>
        <p:nvSpPr>
          <p:cNvPr id="90" name="Google Shape;90;p13">
            <a:extLst>
              <a:ext uri="{FF2B5EF4-FFF2-40B4-BE49-F238E27FC236}">
                <a16:creationId xmlns:a16="http://schemas.microsoft.com/office/drawing/2014/main" id="{313FE59D-B4C9-FE1C-832B-3B12B4039FF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976298" y="61350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ED2CB799-0415-29C5-8D8A-BA9FEBC27AE2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098420" y="61350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2348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148555D1-FCF6-5773-645B-64DDF0495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76094DB6-8413-C538-6973-AA7168D069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566" y="-219662"/>
            <a:ext cx="10515600" cy="1998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en-US" dirty="0"/>
              <a:t>Probabilistic Modeling of Network Congestion and Queue Delay</a:t>
            </a:r>
            <a:endParaRPr dirty="0"/>
          </a:p>
        </p:txBody>
      </p:sp>
      <p:sp>
        <p:nvSpPr>
          <p:cNvPr id="89" name="Google Shape;89;p13">
            <a:extLst>
              <a:ext uri="{FF2B5EF4-FFF2-40B4-BE49-F238E27FC236}">
                <a16:creationId xmlns:a16="http://schemas.microsoft.com/office/drawing/2014/main" id="{2FB29021-A2EB-0601-643F-57543E29B0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30566" y="1779100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Helvetica Neue Light"/>
              <a:buNone/>
            </a:pPr>
            <a:endParaRPr sz="2400" b="1" dirty="0">
              <a:solidFill>
                <a:schemeClr val="tx1"/>
              </a:solidFill>
            </a:endParaRPr>
          </a:p>
        </p:txBody>
      </p:sp>
      <p:sp>
        <p:nvSpPr>
          <p:cNvPr id="90" name="Google Shape;90;p13">
            <a:extLst>
              <a:ext uri="{FF2B5EF4-FFF2-40B4-BE49-F238E27FC236}">
                <a16:creationId xmlns:a16="http://schemas.microsoft.com/office/drawing/2014/main" id="{E86985BB-6D66-2AAA-9E28-10E5B6D3CDC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976298" y="61350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CD356AB5-2C9C-FE72-6A4E-4DB65530636A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098420" y="61350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92184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BC0038A8-E849-9202-AD16-21E3458E2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0C69A375-EE85-CED2-B6AB-8289D9868A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566" y="-219662"/>
            <a:ext cx="10515600" cy="1998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en-US" dirty="0"/>
              <a:t>Probabilistic Modeling of Network Congestion and Queue Delay</a:t>
            </a:r>
            <a:endParaRPr dirty="0"/>
          </a:p>
        </p:txBody>
      </p:sp>
      <p:sp>
        <p:nvSpPr>
          <p:cNvPr id="89" name="Google Shape;89;p13">
            <a:extLst>
              <a:ext uri="{FF2B5EF4-FFF2-40B4-BE49-F238E27FC236}">
                <a16:creationId xmlns:a16="http://schemas.microsoft.com/office/drawing/2014/main" id="{9A8DAC15-7237-9BA5-7130-4CAD7C06A3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30566" y="1779100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Helvetica Neue Light"/>
              <a:buNone/>
            </a:pPr>
            <a:endParaRPr sz="2400" b="1" dirty="0">
              <a:solidFill>
                <a:schemeClr val="tx1"/>
              </a:solidFill>
            </a:endParaRPr>
          </a:p>
        </p:txBody>
      </p:sp>
      <p:sp>
        <p:nvSpPr>
          <p:cNvPr id="90" name="Google Shape;90;p13">
            <a:extLst>
              <a:ext uri="{FF2B5EF4-FFF2-40B4-BE49-F238E27FC236}">
                <a16:creationId xmlns:a16="http://schemas.microsoft.com/office/drawing/2014/main" id="{04DCB2E2-7D81-7139-9F52-354CF6DE5CC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976298" y="61350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A8E12F41-137C-FFB9-B5FD-71992EFF46D0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098420" y="61350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857922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DCB34591-365F-0729-FF5A-AB513EC1D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4E4028F4-1C3C-20FA-9FC4-7924163BCA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566" y="-219662"/>
            <a:ext cx="10515600" cy="1998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en-US" dirty="0"/>
              <a:t>Probabilistic Modeling of Network Congestion and Queue Delay</a:t>
            </a:r>
            <a:endParaRPr dirty="0"/>
          </a:p>
        </p:txBody>
      </p:sp>
      <p:sp>
        <p:nvSpPr>
          <p:cNvPr id="89" name="Google Shape;89;p13">
            <a:extLst>
              <a:ext uri="{FF2B5EF4-FFF2-40B4-BE49-F238E27FC236}">
                <a16:creationId xmlns:a16="http://schemas.microsoft.com/office/drawing/2014/main" id="{BFBD9317-7500-3EFE-4515-34437D96EA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30566" y="1779100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Helvetica Neue Light"/>
              <a:buNone/>
            </a:pPr>
            <a:endParaRPr sz="2400" b="1" dirty="0">
              <a:solidFill>
                <a:schemeClr val="tx1"/>
              </a:solidFill>
            </a:endParaRPr>
          </a:p>
        </p:txBody>
      </p:sp>
      <p:sp>
        <p:nvSpPr>
          <p:cNvPr id="90" name="Google Shape;90;p13">
            <a:extLst>
              <a:ext uri="{FF2B5EF4-FFF2-40B4-BE49-F238E27FC236}">
                <a16:creationId xmlns:a16="http://schemas.microsoft.com/office/drawing/2014/main" id="{AE44B221-E128-AF95-E6DB-4A0FB70F126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976298" y="61350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8210498E-2786-D2E9-029E-491FBC3469D3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098420" y="61350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52803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hmedabad University ">
      <a:dk1>
        <a:srgbClr val="000000"/>
      </a:dk1>
      <a:lt1>
        <a:srgbClr val="FFFFFF"/>
      </a:lt1>
      <a:dk2>
        <a:srgbClr val="7D1916"/>
      </a:dk2>
      <a:lt2>
        <a:srgbClr val="F2F1EE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000000"/>
      </a:accent5>
      <a:accent6>
        <a:srgbClr val="FEFFFF"/>
      </a:accent6>
      <a:hlink>
        <a:srgbClr val="000000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178</Words>
  <Application>Microsoft Office PowerPoint</Application>
  <PresentationFormat>Widescreen</PresentationFormat>
  <Paragraphs>47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Helvetica Neue Light</vt:lpstr>
      <vt:lpstr>Helvetica Neue</vt:lpstr>
      <vt:lpstr>Office Theme</vt:lpstr>
      <vt:lpstr>Probabilistic Modeling of Network Congestion and Queue Delay</vt:lpstr>
      <vt:lpstr>Probabilistic Modeling of Network Congestion and Queue Delay</vt:lpstr>
      <vt:lpstr>Probabilistic Modeling of Network Congestion and Queue Delay</vt:lpstr>
      <vt:lpstr>Probabilistic Modeling of Network Congestion and Queue Delay</vt:lpstr>
      <vt:lpstr>Probabilistic Modeling of Network Congestion and Queue Delay</vt:lpstr>
      <vt:lpstr>Probabilistic Modeling of Network Congestion and Queue Delay</vt:lpstr>
      <vt:lpstr>Probabilistic Modeling of Network Congestion and Queue Delay</vt:lpstr>
      <vt:lpstr>Probabilistic Modeling of Network Congestion and Queue Delay</vt:lpstr>
      <vt:lpstr>Probabilistic Modeling of Network Congestion and Queue Delay</vt:lpstr>
      <vt:lpstr>Probabilistic Modeling of Network Congestion and Queue Delay</vt:lpstr>
      <vt:lpstr>Probabilistic Modeling of Network Congestion and Queue Delay</vt:lpstr>
      <vt:lpstr>Probabilistic Modeling of Network Congestion and Queue Delay</vt:lpstr>
      <vt:lpstr>Probabilistic Modeling of Network Congestion and Queue Delay</vt:lpstr>
      <vt:lpstr>Probabilistic Modeling of Network Congestion and Queue Delay</vt:lpstr>
      <vt:lpstr>Probabilistic Modeling of Network Congestion and Queue Delay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Jyotier Vithalani</dc:creator>
  <cp:lastModifiedBy>Tanmay Kanani</cp:lastModifiedBy>
  <cp:revision>6</cp:revision>
  <dcterms:modified xsi:type="dcterms:W3CDTF">2026-03-09T18:51:11Z</dcterms:modified>
</cp:coreProperties>
</file>